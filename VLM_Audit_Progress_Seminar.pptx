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Gender signal in stimulus (threshold: 0.20)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 gap |P(male) − P(female)|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Humanoid Silhouette
(REJECTED)</c:v>
                  </c:pt>
                  <c:pt idx="1">
                    <c:v>Gray Patch
(ACCEPTED)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0.853</c:v>
                </c:pt>
                <c:pt idx="1">
                  <c:v>0.062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Mean P(yes) by prompt structure — chance baseline = 0.50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P(yes)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Descriptive</c:v>
                  </c:pt>
                  <c:pt idx="1">
                    <c:v>Inversion</c:v>
                  </c:pt>
                  <c:pt idx="2">
                    <c:v>Attribution</c:v>
                  </c:pt>
                  <c:pt idx="3">
                    <c:v>Direct</c:v>
                  </c:pt>
                  <c:pt idx="4">
                    <c:v>Hypothetical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0.793</c:v>
                </c:pt>
                <c:pt idx="1">
                  <c:v>0.788</c:v>
                </c:pt>
                <c:pt idx="2">
                  <c:v>0.648</c:v>
                </c:pt>
                <c:pt idx="3">
                  <c:v>0.602</c:v>
                </c:pt>
                <c:pt idx="4">
                  <c:v>0.567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ASI subscale scores: Raw vs Acquiescence-Corrected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4A6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Hostile Sexism (HS)</c:v>
                  </c:pt>
                  <c:pt idx="1">
                    <c:v>Benevolent Sexism (BS)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0.209</c:v>
                </c:pt>
                <c:pt idx="1">
                  <c:v>0.041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Corrected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Hostile Sexism (HS)</c:v>
                  </c:pt>
                  <c:pt idx="1">
                    <c:v>Benevolent Sexism (BS)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0.044</c:v>
                </c:pt>
                <c:pt idx="1">
                  <c:v>-0.125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-0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Gender Bias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Vision-Language Models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23317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Implicit Logit Extraction Before the Safety Filter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94360" y="2926080"/>
            <a:ext cx="3977640" cy="1691640"/>
          </a:xfrm>
          <a:prstGeom prst="rect">
            <a:avLst/>
          </a:prstGeom>
          <a:solidFill>
            <a:srgbClr val="0D1340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3017520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Hung Huynh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 Gianluca Demartini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REIT4841  ·  Progress Seminar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27432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under audit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3017520"/>
            <a:ext cx="3108960" cy="402336"/>
          </a:xfrm>
          <a:prstGeom prst="rect">
            <a:avLst/>
          </a:prstGeom>
          <a:solidFill>
            <a:srgbClr val="0D134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301752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Llama-3.2-Vision 90B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3520440"/>
            <a:ext cx="3108960" cy="402336"/>
          </a:xfrm>
          <a:prstGeom prst="rect">
            <a:avLst/>
          </a:prstGeom>
          <a:solidFill>
            <a:srgbClr val="0D134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352044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Qwen2-VL 72B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4023360"/>
            <a:ext cx="3108960" cy="402336"/>
          </a:xfrm>
          <a:prstGeom prst="rect">
            <a:avLst/>
          </a:prstGeom>
          <a:solidFill>
            <a:srgbClr val="0D134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402336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Bunya HPC  ·  H100 GPUs  ·  a_ai_collab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Overview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438912" cy="43891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9264" y="9692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9264" y="12618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VLMs, why do we care about bias, why standard auditing fails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9264" y="1627632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65376"/>
            <a:ext cx="438912" cy="43891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177393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206654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logit extraction + Ambivalent Sexism Inventory (ASI)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" y="2432304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70048"/>
            <a:ext cx="438912" cy="43891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9264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" y="287121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complete — code, tests, HPC scripts, weight downloads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" y="3236976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74720"/>
            <a:ext cx="438912" cy="43891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74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9264" y="33832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" y="36758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stimulus validation + Phase 1 pilot on Llama-11B (n=330)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" y="4041648"/>
            <a:ext cx="78638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79392"/>
            <a:ext cx="438912" cy="43891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79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9264" y="41879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Next Steps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9264" y="44805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weeks ahead of proposal schedule — what comes next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Vision-Language Model?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process images and text together, producing natural-language outputs.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56032" cy="25603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Llama-3.2-Vision, GPT-4o, Qwen2-VL — all capable of answering questions about images.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256032" cy="25603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04288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Increasingly used as automated judges: ranking search results, filtering content, recommending candidates.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256032" cy="25603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72384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internet-scale data that encodes societal biases — including gender bias.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877056"/>
            <a:ext cx="256032" cy="25603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40480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VLM judges that woman-authored content is less relevant, that bias propagates silently into downstream systems.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77840" y="1005840"/>
            <a:ext cx="3200400" cy="685800"/>
          </a:xfrm>
          <a:prstGeom prst="rect">
            <a:avLst/>
          </a:prstGeom>
          <a:solidFill>
            <a:srgbClr val="2D3E8A"/>
          </a:solidFill>
          <a:ln w="12700">
            <a:solidFill>
              <a:srgbClr val="2D3E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005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(visual input)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1691640"/>
            <a:ext cx="0" cy="26517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8013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965960"/>
            <a:ext cx="3200400" cy="685800"/>
          </a:xfrm>
          <a:prstGeom prst="rect">
            <a:avLst/>
          </a:prstGeom>
          <a:solidFill>
            <a:srgbClr val="2D3E8A"/>
          </a:solidFill>
          <a:ln w="12700">
            <a:solidFill>
              <a:srgbClr val="2D3E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965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(question/prompt)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78040" y="2651760"/>
            <a:ext cx="0" cy="26517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7614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926080"/>
            <a:ext cx="32004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2926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(Transformer)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78040" y="3611880"/>
            <a:ext cx="0" cy="26517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7216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886200"/>
            <a:ext cx="3200400" cy="6858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(judgement)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Auditing Fails: Algorithmic Defensiveness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5097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approach: ask the model directly. This doesn't 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2519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89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Standard prompt-based audit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42519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95681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91109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"Do you think women are less rational?"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" y="268833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6426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/ Constitutional AI detects evaluative framing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" y="341985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37413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produces sanitised refusal: "I treat everyone equally"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" y="4151376"/>
            <a:ext cx="219456" cy="21945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10565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measurable signal — just the safety guardrail talking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89888"/>
            <a:ext cx="42519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389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we do instead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847088"/>
            <a:ext cx="42519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74336" y="195681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91109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raw logits BEFORE generation: model.forward()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74336" y="268833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6426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P(yes) vs P(no) directly from the output distribution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74336" y="341985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66944" y="337413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 fires at inference time — we bypass it by reading upstream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74336" y="415137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410565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distributional signal, not the model's press release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70832" y="2880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Two Research Questions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E8EFFC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60120"/>
            <a:ext cx="8193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Intrinsic Baseline (Phase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62456"/>
            <a:ext cx="8193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raw psychological attitude of a VLM evaluated in isolation — with no query context, no user, no task? Measured by extracting P(yes) vs P(no) across 22 ASI items in 5 prompt structures × 3 image conditions.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1371600"/>
          </a:xfrm>
          <a:prstGeom prst="rect">
            <a:avLst/>
          </a:prstGeom>
          <a:solidFill>
            <a:srgbClr val="FDE8D4"/>
          </a:solidFill>
          <a:ln w="12700">
            <a:solidFill>
              <a:srgbClr val="E883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87168"/>
            <a:ext cx="8412480" cy="347472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87168"/>
            <a:ext cx="8193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Extrinsic Consistency (Phase 2, not yet started)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889504"/>
            <a:ext cx="8193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intrinsic distributional skew consistent with the model's downstream behaviour on real-world search queries? Benchmarked against the SIGIR 2018 human relevance judgement data [16].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86784"/>
            <a:ext cx="8412480" cy="868680"/>
          </a:xfrm>
          <a:prstGeom prst="rect">
            <a:avLst/>
          </a:prstGeom>
          <a:solidFill>
            <a:srgbClr val="0D1340"/>
          </a:solidFill>
          <a:ln w="12700">
            <a:solidFill>
              <a:srgbClr val="0D1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86784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innovation: </a:t>
            </a:r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P(yes | x, v)  =  softmax( logits )[yes_token]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— captured from 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model.forward()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before model.generate()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Instrument: Ambivalent Sexism Inventory (ASI)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22-item psychological scale with a published human baseline [16] — the same benchmark Gianluca's SIGIR 2018 paper uses.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25196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Sexism (HS)  ·  11 items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920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Overtly negative attitudes — women as incompetent, complaining, manipulative.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578608"/>
            <a:ext cx="4023360" cy="804672"/>
          </a:xfrm>
          <a:prstGeom prst="rect">
            <a:avLst/>
          </a:prstGeom>
          <a:solidFill>
            <a:srgbClr val="F4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24328"/>
            <a:ext cx="3840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item:
</a:t>
            </a:r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are too easily offended by comments made in the workplace."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444752"/>
            <a:ext cx="4251960" cy="420624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44752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Benevolent Sexism (BS)  ·  11 items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00600" y="1865376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920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Ostensibly positive but patronising — women as pure, needing protection.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10328" y="2578608"/>
            <a:ext cx="4023360" cy="804672"/>
          </a:xfrm>
          <a:prstGeom prst="rect">
            <a:avLst/>
          </a:prstGeom>
          <a:solidFill>
            <a:srgbClr val="F4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624328"/>
            <a:ext cx="38404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item:
</a:t>
            </a:r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should be cherished and protected by men."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8412480" cy="1143000"/>
          </a:xfrm>
          <a:prstGeom prst="rect">
            <a:avLst/>
          </a:prstGeom>
          <a:solidFill>
            <a:srgbClr val="E8EF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39312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ASI?  </a:t>
            </a:r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Psychometrically validated gold standard for gender bias measurement. SIGIR 2018 [16] collected human judgements on these same items — giving us a direct benchmark. 6 reverse-coded items (6,7,9,15,20,22) where agreement = anti-sexist response.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What We Actually 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103327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167609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(ASI)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234440"/>
          </a:xfrm>
          <a:prstGeom prst="rect">
            <a:avLst/>
          </a:prstGeom>
          <a:solidFill>
            <a:srgbClr val="2D3E8A"/>
          </a:solidFill>
          <a:ln w="12700">
            <a:solidFill>
              <a:srgbClr val="2D3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73552" y="103327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73552" y="167609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51760" cy="1234440"/>
          </a:xfrm>
          <a:prstGeom prst="rect">
            <a:avLst/>
          </a:prstGeom>
          <a:solidFill>
            <a:srgbClr val="4A6090"/>
          </a:solidFill>
          <a:ln w="12700">
            <a:solidFill>
              <a:srgbClr val="4A6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53912" y="103327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53912" y="167609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Conditions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2651760" cy="123444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" y="245059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93192" y="309341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 /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377440"/>
            <a:ext cx="265176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245059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73552" y="309341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(Phase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26517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53912" y="2450592"/>
            <a:ext cx="2505456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53912" y="3093415"/>
            <a:ext cx="250545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Inferences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8587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structures: Direct  ·  Inversion  ·  Attribution  ·  Hypothetical  ·  Descriptive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16966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conditions: Text-Only (no image)  ·  Gaussian Noise  ·  Gray Patch (validated neutral)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→ intrinsic ASI score  |  Phase 2 → extrinsic SIGIR 2018 queries (not yet started)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Infrastructure Is Complete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plan — a working system. Here's the proof: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965960" cy="1325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1444752"/>
            <a:ext cx="181965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36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" y="2140610"/>
            <a:ext cx="18196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157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6596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444752"/>
            <a:ext cx="181965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2140610"/>
            <a:ext cx="18196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7157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project 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1965960" cy="1325880"/>
          </a:xfrm>
          <a:prstGeom prst="rect">
            <a:avLst/>
          </a:prstGeom>
          <a:solidFill>
            <a:srgbClr val="2D3E8A"/>
          </a:solidFill>
          <a:ln w="12700">
            <a:solidFill>
              <a:srgbClr val="2D3E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90872" y="1444752"/>
            <a:ext cx="181965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90872" y="2140610"/>
            <a:ext cx="18196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scripts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7157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SLURM wrappers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965960" cy="132588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39712" y="1444752"/>
            <a:ext cx="1819656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90B + 72B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39712" y="2140610"/>
            <a:ext cx="18196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71576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to Bunya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85039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90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challenges overcome during build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456432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GPFS + safetensors mmap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Pre-copy 90 GB model to $TMPDIR before loading (6M page-faults → 100 min hang)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86791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831336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5.x loader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 transformers &lt; 5.0 — silent upgrade changed mmap strategy, broke GPFS jobs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242816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20624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0.44 / triton 3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Pin bitsandbytes ≥ 0.45 — triton.ops namespace removed in triton 3.x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458114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queue: 6-day wait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Switch all 90B scripts to H100 — A100 partition oversubscribed on Bunya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1: Stimulus Validation — What We Discovered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running 990 inferences we validated that the image stimulus is gender-neutral. It wasn't.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7548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417320"/>
            <a:ext cx="347472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76672" y="1490472"/>
            <a:ext cx="332841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376672" y="2106778"/>
            <a:ext cx="332841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gender gap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0" y="2724912"/>
            <a:ext cx="347472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76672" y="2798064"/>
            <a:ext cx="3328416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376672" y="3414370"/>
            <a:ext cx="332841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patch gap  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4023360"/>
            <a:ext cx="3474720" cy="1005840"/>
          </a:xfrm>
          <a:prstGeom prst="rect">
            <a:avLst/>
          </a:prstGeom>
          <a:solidFill>
            <a:srgbClr val="FDE8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9824" y="4059936"/>
            <a:ext cx="3200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finding: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P(white) is higher on the gray patch (0.710) than on the silhouette (0.547). A featureless rectangle cannot encode more racial signal than a human shape — the difference proves the racial prior is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linguistic, not visual.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(Llama-11B, n=330): Acquiescence Bias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330 inferences on Llama-3.2-11B. First anomaly: the model says 'yes' to everything.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2120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463040"/>
            <a:ext cx="3017520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25312" y="146304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 – 0.79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25312" y="179222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P(yes) across ALL structures — well above 0.50 chance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2331720"/>
            <a:ext cx="3017520" cy="76809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25312" y="2331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25312" y="266090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P(yes) = 0.79 even where 'yes' is the anti-sexist answer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06440" y="3200400"/>
            <a:ext cx="3017520" cy="7680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25312" y="320040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metric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25312" y="352958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ASI_intrinsic = +0.125 is confounded by this yes-bias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6440" y="4069080"/>
            <a:ext cx="3017520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925312" y="40690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25312" y="4398264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Acquiescence-controlled metric: subtract per-structure baseline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49377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correction variants all agree — this is a robust methodological finding, not a noise artefact.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Corrected Signal — HS vs BS Gap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acquiescence correction (3 variants, all agree): overall ASI ≈ −0.04 (neutral). But subscales tell a story.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4937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417320"/>
            <a:ext cx="3291840" cy="123444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0992" y="146304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gap: +0.044 (corrected)
</a:t>
            </a:r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items stay slightly positive. Safety training is weaker on subtle hostile framing (e.g. 'women exaggerate problems at work').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532120" y="2761488"/>
            <a:ext cx="3291840" cy="123444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50992" y="280720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gap: −0.125 (corrected)
</a:t>
            </a:r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Benevolent items turn negative — model actively resists endorsing obvious BS tropes ('set on a pedestal'). RLHF catches these.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32120" y="4096512"/>
            <a:ext cx="3291840" cy="82296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50992" y="409651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− BS gap ≈ 0.17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all 3 correction methods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Project Is ~3 Weeks Ahead of Schedule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proposal scheduled Phase 1 Llama experiments for 25 May. Phase 1 on 11B completed 5 May.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4173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1417320"/>
            <a:ext cx="69494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417320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spec, ASI items, image generators, stimulus validation (Gate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14173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653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0" y="1865376"/>
            <a:ext cx="69494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1865376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Llama-90B and Qwen2-VL weights downloaded to Bunya HPC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13432"/>
            <a:ext cx="14173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13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2313432"/>
            <a:ext cx="69494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2313432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runner, metrics module, CLI entry-point, SLURM wrappers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14173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2761488"/>
            <a:ext cx="69494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761488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fixed (3-day blocker); full 330-prompt run on Llama-11B completed; acquiescence correction analysis written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209544"/>
            <a:ext cx="1417320" cy="347472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09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~12–14 May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0" y="3209544"/>
            <a:ext cx="6949440" cy="347472"/>
          </a:xfrm>
          <a:prstGeom prst="rect">
            <a:avLst/>
          </a:prstGeom>
          <a:solidFill>
            <a:srgbClr val="FDE8D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8528" y="3209544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Llama-90B Gate 2 preflight (VRAM/latency check on H100)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57600"/>
            <a:ext cx="1417320" cy="347472"/>
          </a:xfrm>
          <a:prstGeom prst="rect">
            <a:avLst/>
          </a:prstGeom>
          <a:solidFill>
            <a:srgbClr val="4A609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57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~15–22 May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3657600"/>
            <a:ext cx="6949440" cy="347472"/>
          </a:xfrm>
          <a:prstGeom prst="rect">
            <a:avLst/>
          </a:prstGeom>
          <a:solidFill>
            <a:srgbClr val="F4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38528" y="3657600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Phase 1 on Llama-90B and Qwen2-VL (990 + 660 inferences)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105656"/>
            <a:ext cx="1417320" cy="347472"/>
          </a:xfrm>
          <a:prstGeom prst="rect">
            <a:avLst/>
          </a:prstGeom>
          <a:solidFill>
            <a:srgbClr val="2D3E8A"/>
          </a:solidFill>
          <a:ln w="12700">
            <a:solidFill>
              <a:srgbClr val="2D3E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05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 (orig.)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28800" y="4105656"/>
            <a:ext cx="6949440" cy="347472"/>
          </a:xfrm>
          <a:prstGeom prst="rect">
            <a:avLst/>
          </a:prstGeom>
          <a:solidFill>
            <a:srgbClr val="F4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38528" y="4105656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milestone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milestone: Phase 1 Llama experiments — effectively done 20 days early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553712"/>
            <a:ext cx="1417320" cy="347472"/>
          </a:xfrm>
          <a:prstGeom prst="rect">
            <a:avLst/>
          </a:prstGeom>
          <a:solidFill>
            <a:srgbClr val="4A6090"/>
          </a:solidFill>
          <a:ln w="12700">
            <a:solidFill>
              <a:srgbClr val="4A6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5537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June–July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28800" y="4553712"/>
            <a:ext cx="6949440" cy="347472"/>
          </a:xfrm>
          <a:prstGeom prst="rect">
            <a:avLst/>
          </a:prstGeom>
          <a:solidFill>
            <a:srgbClr val="F4F7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38528" y="4553712"/>
            <a:ext cx="6729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(extrinsic evaluation on SIGIR 2018 queries) + analysis + write-up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57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Priority Queue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38160" y="493776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Immediate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34416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Llama-90B Gate 2 preflight: submit short SLURM job to measure VRAM usage and per-inference latency on H100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92224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walltime budget in bunya_run_phase1.sh based on preflight timings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8503920" cy="347472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13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This week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697480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full 330-inference Phase 1 production run on Llama-3.2-90B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201168" cy="20116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145536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Qwen2-VL extractor (different API: processor.chat() vs model.forward())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593592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1 on Qwen2-VL-72B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8503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667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After results in hand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9651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050792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comparison with acquiescence-corrected metrics across 11B, 90B, Qwen2-VL, GPT-4o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449884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load SIGIR 2018 queries [16], compute RR/CR/ΔRR extrinsic metrics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99262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946904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thesis write-up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96012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auditing is blind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27101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filters sanitise model outputs on evaluative prompts. Logit extraction sidesteps this by reading P(yes) before the safety overlay.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15568" y="1828800"/>
            <a:ext cx="7589520" cy="0"/>
          </a:xfrm>
          <a:prstGeom prst="line">
            <a:avLst/>
          </a:prstGeom>
          <a:noFill/>
          <a:ln w="12700">
            <a:solidFill>
              <a:srgbClr val="2D3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4767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192024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is validated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23113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confirmed a gender-neutral stimulus. 36/36 tests pass. The pipeline ran 330 inferences end-to-end on Bunya — it works.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15568" y="2788920"/>
            <a:ext cx="7589520" cy="0"/>
          </a:xfrm>
          <a:prstGeom prst="line">
            <a:avLst/>
          </a:prstGeom>
          <a:noFill/>
          <a:ln w="12700">
            <a:solidFill>
              <a:srgbClr val="2D3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0779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288036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signal: RLHF is asymmetric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19125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results show HS &gt; BS by ~0.17. Safety training catches benevolent-sexism tropes but is weaker on subtle hostile items.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15568" y="3749040"/>
            <a:ext cx="7589520" cy="0"/>
          </a:xfrm>
          <a:prstGeom prst="line">
            <a:avLst/>
          </a:prstGeom>
          <a:noFill/>
          <a:ln w="12700">
            <a:solidFill>
              <a:srgbClr val="2D3E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6791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15568" y="384048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schedule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415137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on Llama-11B done ~3 weeks early. 90B and Qwen runs are next. Phase 2 extrinsic analysis follows.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38160" y="4956048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743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2D3E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424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17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Gianluca Demartini — supervision, and for the SIGIR 2018 baseline data [16] that anchors Phase 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928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Research Computing — Bunya HPC allocation (account a_ai_collab), H100 GPU access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14016"/>
            <a:ext cx="182880" cy="18288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6829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/ Qwen team / OpenAI — open model weights and APIs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3E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results: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github.com/tony-huynh/VLM_Audit  (private, available on request)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1110giahung@gmail.com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 Bunya HPC  ·  account a_ai_collab  ·  H100 GPUs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956048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Auditing Gender Bias in Vision-Language Models</dc:title>
  <dc:subject>REIT4841 Progress Seminar May 2026</dc:subject>
  <dc:creator>Gia Hung Huynh</dc:creator>
  <cp:lastModifiedBy>Gia Hung Huynh</cp:lastModifiedBy>
  <cp:revision>1</cp:revision>
  <dcterms:created xsi:type="dcterms:W3CDTF">2026-05-09T09:40:24Z</dcterms:created>
  <dcterms:modified xsi:type="dcterms:W3CDTF">2026-05-09T09:40:24Z</dcterms:modified>
</cp:coreProperties>
</file>